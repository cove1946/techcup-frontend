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7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71EB-341B-1ACB-2452-FDE732DB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D85DA-04DD-9743-47C1-0390FCA39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B7A02-4594-E3C4-6584-B011113D3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117B7-25F7-6EE6-32BE-3AF477B7E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23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3400" noProof="0" dirty="0"/>
          </a:p>
        </p:txBody>
      </p:sp>
      <p:sp>
        <p:nvSpPr>
          <p:cNvPr id="8" name="Text 6"/>
          <p:cNvSpPr/>
          <p:nvPr/>
        </p:nvSpPr>
        <p:spPr>
          <a:xfrm>
            <a:off x="2377440" y="165463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5200" b="1" kern="0" spc="600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TECHCUP</a:t>
            </a:r>
            <a:endParaRPr lang="es-CO" sz="5200" noProof="0" dirty="0"/>
          </a:p>
        </p:txBody>
      </p:sp>
      <p:sp>
        <p:nvSpPr>
          <p:cNvPr id="9" name="Text 7"/>
          <p:cNvSpPr/>
          <p:nvPr/>
        </p:nvSpPr>
        <p:spPr>
          <a:xfrm>
            <a:off x="2478558" y="22223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kern="0" spc="1000" noProof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FÚTBOL</a:t>
            </a:r>
            <a:endParaRPr lang="es-CO" sz="2200" noProof="0" dirty="0"/>
          </a:p>
        </p:txBody>
      </p:sp>
      <p:sp>
        <p:nvSpPr>
          <p:cNvPr id="10" name="Shape 8"/>
          <p:cNvSpPr/>
          <p:nvPr/>
        </p:nvSpPr>
        <p:spPr>
          <a:xfrm>
            <a:off x="2550642" y="2599699"/>
            <a:ext cx="41148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2478558" y="2606040"/>
            <a:ext cx="41868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kern="0" spc="300" noProof="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 IDENTIDAD DE MARCA</a:t>
            </a:r>
            <a:endParaRPr lang="es-CO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BBF7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Escuela Colombiana de Ingeniería Julio Garavito  ·  2026</a:t>
            </a:r>
            <a:endParaRPr lang="es-CO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7132320" y="37490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5803D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Text 12"/>
          <p:cNvSpPr/>
          <p:nvPr/>
        </p:nvSpPr>
        <p:spPr>
          <a:xfrm>
            <a:off x="713232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 ·  2026-1</a:t>
            </a:r>
            <a:endParaRPr lang="es-CO" sz="9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D1C5357-1DEB-9C0E-034B-7C7C2C2E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39" y="1297097"/>
            <a:ext cx="2086183" cy="208618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400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</a:t>
            </a:r>
            <a:endParaRPr lang="es-CO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 Identidad</a:t>
            </a:r>
            <a:endParaRPr lang="es-CO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s-CO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&amp; Concepto de Marca</a:t>
            </a:r>
            <a:endParaRPr lang="es-CO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s-CO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20025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Público Objetivo</a:t>
            </a:r>
            <a:endParaRPr lang="es-CO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s-CO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1051560" y="2404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Colores</a:t>
            </a:r>
            <a:endParaRPr lang="es-CO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8072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s-CO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1051560" y="28072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Tipografía</a:t>
            </a:r>
            <a:endParaRPr lang="es-CO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320954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s-CO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1051560" y="32095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Elementos Visuales — Botones</a:t>
            </a:r>
            <a:endParaRPr lang="es-CO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s-CO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1045029" y="3561589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Elementos Visuales — </a:t>
            </a:r>
            <a:r>
              <a:rPr lang="es-CO" sz="1300" noProof="0" dirty="0" err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&amp; </a:t>
            </a:r>
            <a:r>
              <a:rPr lang="es-CO" sz="1300" noProof="0" dirty="0" err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</a:t>
            </a:r>
            <a:endParaRPr lang="es-CO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449361" y="401421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s-CO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1045029" y="40142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Tipografía / Colores / Detalle</a:t>
            </a:r>
            <a:endParaRPr lang="es-CO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658368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0" noProof="0" dirty="0"/>
          </a:p>
        </p:txBody>
      </p:sp>
      <p:sp>
        <p:nvSpPr>
          <p:cNvPr id="24" name="Text 22"/>
          <p:cNvSpPr/>
          <p:nvPr/>
        </p:nvSpPr>
        <p:spPr>
          <a:xfrm>
            <a:off x="6583680" y="3474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 err="1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TechCup</a:t>
            </a:r>
            <a:endParaRPr lang="es-CO" sz="1400" noProof="0" dirty="0"/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Fútbol</a:t>
            </a:r>
            <a:endParaRPr lang="es-CO" sz="1400" noProof="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99CF94E9-BDE3-21FC-DBA0-5ABF3328D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576072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s-CO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&amp; Concepto de Marca</a:t>
            </a:r>
            <a:endParaRPr lang="es-CO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1168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4200" noProof="0" dirty="0"/>
          </a:p>
        </p:txBody>
      </p:sp>
      <p:sp>
        <p:nvSpPr>
          <p:cNvPr id="8" name="Text 6"/>
          <p:cNvSpPr/>
          <p:nvPr/>
        </p:nvSpPr>
        <p:spPr>
          <a:xfrm>
            <a:off x="466344" y="269617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b="1" kern="0" spc="400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TECHCUP</a:t>
            </a:r>
            <a:endParaRPr lang="es-CO" sz="2200" noProof="0" dirty="0"/>
          </a:p>
          <a:p>
            <a:pPr marL="0" indent="0" algn="ctr">
              <a:buNone/>
            </a:pPr>
            <a:r>
              <a:rPr lang="es-CO" sz="2200" b="1" kern="0" spc="400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FÚTBOL</a:t>
            </a:r>
            <a:endParaRPr lang="es-CO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466344" y="33806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kern="0" spc="100" noProof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Torneo Semestral ECI</a:t>
            </a:r>
            <a:endParaRPr lang="es-CO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466344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Nombre:</a:t>
            </a:r>
            <a:endParaRPr lang="es-CO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6126480" y="1444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 err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TechCup</a:t>
            </a:r>
            <a:r>
              <a:rPr lang="es-CO" sz="10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Fútbol</a:t>
            </a:r>
            <a:endParaRPr lang="es-CO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Institución:</a:t>
            </a:r>
            <a:endParaRPr lang="es-CO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187778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Escuela Colombiana de Ingeniería Julio Garavito</a:t>
            </a:r>
            <a:endParaRPr lang="es-CO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</a:t>
            </a:r>
            <a:endParaRPr lang="es-CO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0" y="235327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 gestión de torneo semestral de fútbol</a:t>
            </a:r>
            <a:endParaRPr lang="es-CO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Edición:</a:t>
            </a:r>
            <a:endParaRPr lang="es-CO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6126480" y="281047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2026-1 · Activo</a:t>
            </a:r>
            <a:endParaRPr lang="es-CO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Contexto:</a:t>
            </a:r>
            <a:endParaRPr lang="es-CO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6126480" y="323109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Torneo interno entre programas: Sistemas, IA,</a:t>
            </a:r>
            <a:endParaRPr lang="es-CO" sz="1000" noProof="0" dirty="0"/>
          </a:p>
          <a:p>
            <a:pPr marL="0" indent="0">
              <a:buNone/>
            </a:pPr>
            <a:r>
              <a:rPr lang="es-CO" sz="10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Ciberseguridad y Estadística</a:t>
            </a:r>
            <a:endParaRPr lang="es-CO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i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“Juega. Compila. Gana."</a:t>
            </a:r>
            <a:endParaRPr lang="es-CO" sz="1300" noProof="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8B11AFB-B2AA-E656-3422-F81A5620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239" y="1591056"/>
            <a:ext cx="1343841" cy="13438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s-CO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Público Objetivo</a:t>
            </a:r>
            <a:endParaRPr lang="es-CO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6459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457199" y="1508759"/>
            <a:ext cx="8458201" cy="333364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458200" cy="12801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181508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111827"/>
                </a:solidFill>
                <a:latin typeface="Segoe UI" pitchFamily="34" charset="0"/>
                <a:cs typeface="Segoe UI" pitchFamily="34" charset="-120"/>
              </a:rPr>
              <a:t>Usuarios principales</a:t>
            </a:r>
            <a:endParaRPr lang="es-CO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2161249"/>
            <a:ext cx="2331720" cy="1423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900" noProof="0" dirty="0"/>
              <a:t>Estudiantes de Sistemas – IA – Ciberseguridad – Estadística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O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900" noProof="0" dirty="0"/>
              <a:t>Jóvenes entre 18 – 26 años, que estén cursando entre 1 a 8 semestres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O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900" noProof="0" dirty="0"/>
              <a:t>Interesados en participan directamente en el torneo ya sea como jugadores, capitanes, árbitros u organizadores.</a:t>
            </a:r>
          </a:p>
          <a:p>
            <a:pPr algn="ctr"/>
            <a:endParaRPr lang="es-CO" sz="900" noProof="0" dirty="0"/>
          </a:p>
          <a:p>
            <a:pPr algn="ctr"/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2400" noProof="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2400" noProof="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DB696392-00D0-AF0D-BB0D-D9BC705813F0}"/>
              </a:ext>
            </a:extLst>
          </p:cNvPr>
          <p:cNvSpPr/>
          <p:nvPr/>
        </p:nvSpPr>
        <p:spPr>
          <a:xfrm>
            <a:off x="3136391" y="1805939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111827"/>
                </a:solidFill>
                <a:latin typeface="Segoe UI" pitchFamily="34" charset="0"/>
                <a:cs typeface="Segoe UI" pitchFamily="34" charset="-120"/>
              </a:rPr>
              <a:t>Usuarios Secundarios</a:t>
            </a:r>
            <a:endParaRPr lang="es-CO" sz="1200" noProof="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3E6D67BE-9722-A574-2061-E947174662A2}"/>
              </a:ext>
            </a:extLst>
          </p:cNvPr>
          <p:cNvSpPr/>
          <p:nvPr/>
        </p:nvSpPr>
        <p:spPr>
          <a:xfrm>
            <a:off x="3273551" y="2164078"/>
            <a:ext cx="2331720" cy="1423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900" dirty="0"/>
              <a:t>Familiares y allegados de los estudiantes</a:t>
            </a:r>
            <a:endParaRPr lang="es-CO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O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900" noProof="0" dirty="0"/>
              <a:t>Cualquier persona que quiera seguir el torneo, desde los resultados hasta las fechas de partidos </a:t>
            </a:r>
          </a:p>
          <a:p>
            <a:endParaRPr lang="es-CO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900" noProof="0" dirty="0"/>
              <a:t>Interesados en participan directamente en el torneo ya sea como jugadores, capitanes, árbitros u organizadores.</a:t>
            </a:r>
          </a:p>
          <a:p>
            <a:pPr algn="ctr"/>
            <a:endParaRPr lang="es-CO" sz="900" noProof="0" dirty="0"/>
          </a:p>
          <a:p>
            <a:pPr algn="ctr"/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7B21478F-F2C6-2B73-6AA1-1C0415015C29}"/>
              </a:ext>
            </a:extLst>
          </p:cNvPr>
          <p:cNvSpPr/>
          <p:nvPr/>
        </p:nvSpPr>
        <p:spPr>
          <a:xfrm>
            <a:off x="5779659" y="181508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111827"/>
                </a:solidFill>
                <a:latin typeface="Segoe UI" pitchFamily="34" charset="0"/>
                <a:cs typeface="Segoe UI" pitchFamily="34" charset="-120"/>
              </a:rPr>
              <a:t>Usuarios Secundarios</a:t>
            </a:r>
            <a:endParaRPr lang="es-CO" sz="1200" noProof="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08AE43A8-3AA7-0CCD-248D-6181322302B2}"/>
              </a:ext>
            </a:extLst>
          </p:cNvPr>
          <p:cNvSpPr/>
          <p:nvPr/>
        </p:nvSpPr>
        <p:spPr>
          <a:xfrm>
            <a:off x="5916169" y="2164078"/>
            <a:ext cx="2331720" cy="1423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CO" sz="900" noProof="0" dirty="0"/>
              <a:t>Profesores de la ECI, que </a:t>
            </a:r>
            <a:r>
              <a:rPr lang="es-CO" sz="900" dirty="0"/>
              <a:t>quieran participar como jugadores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s-CO" sz="9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CO" sz="900" noProof="0" dirty="0"/>
              <a:t>Personal administrativo de la escuela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s-CO" sz="9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900" dirty="0"/>
              <a:t>Graduados de esos mismos programas, que aunque ya terminaron su carrera siguen vinculados a la comunidad de la Escuela</a:t>
            </a:r>
            <a:endParaRPr lang="es-CO" sz="900" noProof="0" dirty="0"/>
          </a:p>
          <a:p>
            <a:pPr algn="ctr"/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s-CO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Colores</a:t>
            </a:r>
            <a:endParaRPr lang="es-CO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6459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1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Primario — Verde Institucional</a:t>
            </a:r>
            <a:endParaRPr lang="es-CO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49808" cy="11887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#052E16</a:t>
            </a:r>
            <a:endParaRPr lang="es-CO" sz="700" noProof="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52728" y="1691640"/>
            <a:ext cx="749808" cy="11887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1252728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12" name="Text 10"/>
          <p:cNvSpPr/>
          <p:nvPr/>
        </p:nvSpPr>
        <p:spPr>
          <a:xfrm>
            <a:off x="1252728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#14532D</a:t>
            </a:r>
            <a:endParaRPr lang="es-CO" sz="700" noProof="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48256" y="1691640"/>
            <a:ext cx="749808" cy="1188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Text 12"/>
          <p:cNvSpPr/>
          <p:nvPr/>
        </p:nvSpPr>
        <p:spPr>
          <a:xfrm>
            <a:off x="2048256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15" name="Text 13"/>
          <p:cNvSpPr/>
          <p:nvPr/>
        </p:nvSpPr>
        <p:spPr>
          <a:xfrm>
            <a:off x="2048256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#166534</a:t>
            </a:r>
            <a:endParaRPr lang="es-CO" sz="700" noProof="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43784" y="1691640"/>
            <a:ext cx="749808" cy="1188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2843784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18" name="Text 16"/>
          <p:cNvSpPr/>
          <p:nvPr/>
        </p:nvSpPr>
        <p:spPr>
          <a:xfrm>
            <a:off x="2843784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#15803D</a:t>
            </a:r>
            <a:endParaRPr lang="es-CO" sz="700" noProof="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39312" y="1691640"/>
            <a:ext cx="7498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8"/>
          <p:cNvSpPr/>
          <p:nvPr/>
        </p:nvSpPr>
        <p:spPr>
          <a:xfrm>
            <a:off x="3639312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21" name="Text 19"/>
          <p:cNvSpPr/>
          <p:nvPr/>
        </p:nvSpPr>
        <p:spPr>
          <a:xfrm>
            <a:off x="3639312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#16A34A</a:t>
            </a:r>
            <a:endParaRPr lang="es-CO" sz="700" noProof="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34840" y="1691640"/>
            <a:ext cx="7498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4434840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24" name="Text 22"/>
          <p:cNvSpPr/>
          <p:nvPr/>
        </p:nvSpPr>
        <p:spPr>
          <a:xfrm>
            <a:off x="4434840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#22C55E</a:t>
            </a:r>
            <a:endParaRPr lang="es-CO" sz="700" noProof="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30368" y="1691640"/>
            <a:ext cx="7498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5230368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5230368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#4ADE80</a:t>
            </a:r>
            <a:endParaRPr lang="es-CO" sz="700" noProof="0" dirty="0"/>
          </a:p>
        </p:txBody>
      </p:sp>
      <p:sp>
        <p:nvSpPr>
          <p:cNvPr id="28" name="Shape 26"/>
          <p:cNvSpPr/>
          <p:nvPr/>
        </p:nvSpPr>
        <p:spPr>
          <a:xfrm>
            <a:off x="6025896" y="1691640"/>
            <a:ext cx="749808" cy="11887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9" name="Text 27"/>
          <p:cNvSpPr/>
          <p:nvPr/>
        </p:nvSpPr>
        <p:spPr>
          <a:xfrm>
            <a:off x="6025896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30" name="Text 28"/>
          <p:cNvSpPr/>
          <p:nvPr/>
        </p:nvSpPr>
        <p:spPr>
          <a:xfrm>
            <a:off x="6025896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#86EFAC</a:t>
            </a:r>
            <a:endParaRPr lang="es-CO" sz="700" noProof="0" dirty="0"/>
          </a:p>
        </p:txBody>
      </p:sp>
      <p:sp>
        <p:nvSpPr>
          <p:cNvPr id="31" name="Shape 29"/>
          <p:cNvSpPr/>
          <p:nvPr/>
        </p:nvSpPr>
        <p:spPr>
          <a:xfrm>
            <a:off x="6821424" y="1691640"/>
            <a:ext cx="749808" cy="1188720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2" name="Text 30"/>
          <p:cNvSpPr/>
          <p:nvPr/>
        </p:nvSpPr>
        <p:spPr>
          <a:xfrm>
            <a:off x="6821424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33" name="Text 31"/>
          <p:cNvSpPr/>
          <p:nvPr/>
        </p:nvSpPr>
        <p:spPr>
          <a:xfrm>
            <a:off x="6821424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#BBF7D0</a:t>
            </a:r>
            <a:endParaRPr lang="es-CO" sz="700" noProof="0" dirty="0"/>
          </a:p>
        </p:txBody>
      </p:sp>
      <p:sp>
        <p:nvSpPr>
          <p:cNvPr id="34" name="Shape 32"/>
          <p:cNvSpPr/>
          <p:nvPr/>
        </p:nvSpPr>
        <p:spPr>
          <a:xfrm>
            <a:off x="7616952" y="1691640"/>
            <a:ext cx="749808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5" name="Text 33"/>
          <p:cNvSpPr/>
          <p:nvPr/>
        </p:nvSpPr>
        <p:spPr>
          <a:xfrm>
            <a:off x="7616952" y="173736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" noProof="0" dirty="0"/>
          </a:p>
        </p:txBody>
      </p:sp>
      <p:sp>
        <p:nvSpPr>
          <p:cNvPr id="36" name="Text 34"/>
          <p:cNvSpPr/>
          <p:nvPr/>
        </p:nvSpPr>
        <p:spPr>
          <a:xfrm>
            <a:off x="7616952" y="26060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#F0FDF4</a:t>
            </a:r>
            <a:endParaRPr lang="es-CO" sz="700" noProof="0" dirty="0"/>
          </a:p>
        </p:txBody>
      </p:sp>
      <p:sp>
        <p:nvSpPr>
          <p:cNvPr id="37" name="Text 35"/>
          <p:cNvSpPr/>
          <p:nvPr/>
        </p:nvSpPr>
        <p:spPr>
          <a:xfrm>
            <a:off x="45720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1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Colores de Estado y Roles</a:t>
            </a:r>
            <a:endParaRPr lang="es-CO" sz="900" noProof="0" dirty="0"/>
          </a:p>
        </p:txBody>
      </p:sp>
      <p:sp>
        <p:nvSpPr>
          <p:cNvPr id="38" name="Shape 36"/>
          <p:cNvSpPr/>
          <p:nvPr/>
        </p:nvSpPr>
        <p:spPr>
          <a:xfrm>
            <a:off x="704088" y="3291840"/>
            <a:ext cx="685800" cy="6858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9" name="Text 37"/>
          <p:cNvSpPr/>
          <p:nvPr/>
        </p:nvSpPr>
        <p:spPr>
          <a:xfrm>
            <a:off x="457200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Éxito / Principal</a:t>
            </a:r>
            <a:endParaRPr lang="es-CO" sz="750" noProof="0" dirty="0"/>
          </a:p>
        </p:txBody>
      </p:sp>
      <p:sp>
        <p:nvSpPr>
          <p:cNvPr id="40" name="Text 38"/>
          <p:cNvSpPr/>
          <p:nvPr/>
        </p:nvSpPr>
        <p:spPr>
          <a:xfrm>
            <a:off x="457200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#15803D</a:t>
            </a:r>
            <a:endParaRPr lang="es-CO" sz="700" noProof="0" dirty="0"/>
          </a:p>
        </p:txBody>
      </p:sp>
      <p:sp>
        <p:nvSpPr>
          <p:cNvPr id="41" name="Shape 39"/>
          <p:cNvSpPr/>
          <p:nvPr/>
        </p:nvSpPr>
        <p:spPr>
          <a:xfrm>
            <a:off x="1929384" y="3291840"/>
            <a:ext cx="685800" cy="6858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2" name="Text 40"/>
          <p:cNvSpPr/>
          <p:nvPr/>
        </p:nvSpPr>
        <p:spPr>
          <a:xfrm>
            <a:off x="1682496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Advertencia / Árbitro</a:t>
            </a:r>
            <a:endParaRPr lang="es-CO" sz="750" noProof="0" dirty="0"/>
          </a:p>
        </p:txBody>
      </p:sp>
      <p:sp>
        <p:nvSpPr>
          <p:cNvPr id="43" name="Text 41"/>
          <p:cNvSpPr/>
          <p:nvPr/>
        </p:nvSpPr>
        <p:spPr>
          <a:xfrm>
            <a:off x="1682496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#EAB308</a:t>
            </a:r>
            <a:endParaRPr lang="es-CO" sz="700" noProof="0" dirty="0"/>
          </a:p>
        </p:txBody>
      </p:sp>
      <p:sp>
        <p:nvSpPr>
          <p:cNvPr id="44" name="Shape 42"/>
          <p:cNvSpPr/>
          <p:nvPr/>
        </p:nvSpPr>
        <p:spPr>
          <a:xfrm>
            <a:off x="3154680" y="32918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5" name="Text 43"/>
          <p:cNvSpPr/>
          <p:nvPr/>
        </p:nvSpPr>
        <p:spPr>
          <a:xfrm>
            <a:off x="2907792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/ </a:t>
            </a:r>
            <a:r>
              <a:rPr lang="es-CO" sz="750" noProof="0" dirty="0" err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s-CO" sz="750" noProof="0" dirty="0"/>
          </a:p>
        </p:txBody>
      </p:sp>
      <p:sp>
        <p:nvSpPr>
          <p:cNvPr id="46" name="Text 44"/>
          <p:cNvSpPr/>
          <p:nvPr/>
        </p:nvSpPr>
        <p:spPr>
          <a:xfrm>
            <a:off x="2907792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#DC2626</a:t>
            </a:r>
            <a:endParaRPr lang="es-CO" sz="700" noProof="0" dirty="0"/>
          </a:p>
        </p:txBody>
      </p:sp>
      <p:sp>
        <p:nvSpPr>
          <p:cNvPr id="47" name="Shape 45"/>
          <p:cNvSpPr/>
          <p:nvPr/>
        </p:nvSpPr>
        <p:spPr>
          <a:xfrm>
            <a:off x="4379976" y="329184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8" name="Text 46"/>
          <p:cNvSpPr/>
          <p:nvPr/>
        </p:nvSpPr>
        <p:spPr>
          <a:xfrm>
            <a:off x="4133088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 err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Capitán</a:t>
            </a:r>
            <a:endParaRPr lang="es-CO" sz="750" noProof="0" dirty="0"/>
          </a:p>
        </p:txBody>
      </p:sp>
      <p:sp>
        <p:nvSpPr>
          <p:cNvPr id="49" name="Text 47"/>
          <p:cNvSpPr/>
          <p:nvPr/>
        </p:nvSpPr>
        <p:spPr>
          <a:xfrm>
            <a:off x="4133088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#1D4ED8</a:t>
            </a:r>
            <a:endParaRPr lang="es-CO" sz="700" noProof="0" dirty="0"/>
          </a:p>
        </p:txBody>
      </p:sp>
      <p:sp>
        <p:nvSpPr>
          <p:cNvPr id="50" name="Shape 48"/>
          <p:cNvSpPr/>
          <p:nvPr/>
        </p:nvSpPr>
        <p:spPr>
          <a:xfrm>
            <a:off x="5605272" y="329184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1" name="Text 49"/>
          <p:cNvSpPr/>
          <p:nvPr/>
        </p:nvSpPr>
        <p:spPr>
          <a:xfrm>
            <a:off x="5358384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Jugador Especial</a:t>
            </a:r>
            <a:endParaRPr lang="es-CO" sz="750" noProof="0" dirty="0"/>
          </a:p>
        </p:txBody>
      </p:sp>
      <p:sp>
        <p:nvSpPr>
          <p:cNvPr id="52" name="Text 50"/>
          <p:cNvSpPr/>
          <p:nvPr/>
        </p:nvSpPr>
        <p:spPr>
          <a:xfrm>
            <a:off x="5358384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#6366F1</a:t>
            </a:r>
            <a:endParaRPr lang="es-CO" sz="7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0568" y="3291840"/>
            <a:ext cx="685800" cy="685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4" name="Text 52"/>
          <p:cNvSpPr/>
          <p:nvPr/>
        </p:nvSpPr>
        <p:spPr>
          <a:xfrm>
            <a:off x="6583680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clasificado</a:t>
            </a:r>
            <a:endParaRPr lang="es-CO" sz="750" noProof="0" dirty="0"/>
          </a:p>
        </p:txBody>
      </p:sp>
      <p:sp>
        <p:nvSpPr>
          <p:cNvPr id="55" name="Text 53"/>
          <p:cNvSpPr/>
          <p:nvPr/>
        </p:nvSpPr>
        <p:spPr>
          <a:xfrm>
            <a:off x="6583680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#D1D5DB</a:t>
            </a:r>
            <a:endParaRPr lang="es-CO" sz="700" noProof="0" dirty="0"/>
          </a:p>
        </p:txBody>
      </p:sp>
      <p:sp>
        <p:nvSpPr>
          <p:cNvPr id="56" name="Shape 54"/>
          <p:cNvSpPr/>
          <p:nvPr/>
        </p:nvSpPr>
        <p:spPr>
          <a:xfrm>
            <a:off x="8055864" y="3291840"/>
            <a:ext cx="685800" cy="6858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7" name="Text 55"/>
          <p:cNvSpPr/>
          <p:nvPr/>
        </p:nvSpPr>
        <p:spPr>
          <a:xfrm>
            <a:off x="7808976" y="40233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Fondo / Card</a:t>
            </a:r>
            <a:endParaRPr lang="es-CO" sz="750" noProof="0" dirty="0"/>
          </a:p>
        </p:txBody>
      </p:sp>
      <p:sp>
        <p:nvSpPr>
          <p:cNvPr id="58" name="Text 56"/>
          <p:cNvSpPr/>
          <p:nvPr/>
        </p:nvSpPr>
        <p:spPr>
          <a:xfrm>
            <a:off x="7808976" y="434340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#F9FAFB</a:t>
            </a:r>
            <a:endParaRPr lang="es-CO" sz="7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s-CO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Tipografía</a:t>
            </a:r>
            <a:endParaRPr lang="es-CO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0" b="1" noProof="0" dirty="0" err="1">
                <a:solidFill>
                  <a:srgbClr val="FFFFFF"/>
                </a:solidFill>
                <a:latin typeface="Inter"/>
                <a:ea typeface="Segoe UI" pitchFamily="34" charset="-122"/>
                <a:cs typeface="Segoe UI" pitchFamily="34" charset="-120"/>
              </a:rPr>
              <a:t>Aa</a:t>
            </a:r>
            <a:endParaRPr lang="es-CO" sz="8000" noProof="0" dirty="0">
              <a:latin typeface="In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O" sz="2000" b="1" dirty="0">
                <a:solidFill>
                  <a:srgbClr val="4ADE80"/>
                </a:solidFill>
                <a:latin typeface="Inter"/>
                <a:ea typeface="Segoe UI" pitchFamily="34" charset="-122"/>
                <a:cs typeface="Segoe UI" pitchFamily="34" charset="-120"/>
              </a:rPr>
              <a:t>Inter</a:t>
            </a:r>
            <a:endParaRPr lang="es-CO" sz="1800" noProof="0" dirty="0">
              <a:latin typeface="Inter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BBF7D0"/>
                </a:solidFill>
                <a:latin typeface="Inter"/>
                <a:ea typeface="Segoe UI" pitchFamily="34" charset="-122"/>
                <a:cs typeface="Segoe UI" pitchFamily="34" charset="-120"/>
              </a:rPr>
              <a:t>Fuente Principal del Sistema</a:t>
            </a:r>
            <a:endParaRPr lang="es-CO" sz="1100" noProof="0" dirty="0">
              <a:latin typeface="Inter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A B C D E F G H I J K L M</a:t>
            </a:r>
            <a:endParaRPr lang="es-CO" sz="1200" noProof="0" dirty="0">
              <a:latin typeface="Inter"/>
            </a:endParaRPr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N O P Q R S T U V W X Y Z</a:t>
            </a:r>
            <a:endParaRPr lang="es-CO" sz="1200" noProof="0" dirty="0">
              <a:latin typeface="Inter"/>
            </a:endParaRPr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a b c d e f g h i j k l m</a:t>
            </a:r>
            <a:endParaRPr lang="es-CO" sz="1200" noProof="0" dirty="0">
              <a:latin typeface="Inter"/>
            </a:endParaRPr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0 1 2 3 4 5 6 7 8 9</a:t>
            </a:r>
            <a:endParaRPr lang="es-CO" sz="1200" noProof="0" dirty="0">
              <a:latin typeface="Inter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H1 — Título de página</a:t>
            </a:r>
            <a:endParaRPr lang="es-CO" sz="2200" noProof="0" dirty="0">
              <a:latin typeface="Inter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6276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30px · Bold · #111827</a:t>
            </a:r>
            <a:endParaRPr lang="es-CO" sz="800" noProof="0" dirty="0">
              <a:latin typeface="Inter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19385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H2 — Subtítulo</a:t>
            </a:r>
            <a:endParaRPr lang="es-CO" sz="1600" noProof="0" dirty="0">
              <a:latin typeface="Inter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20px · </a:t>
            </a:r>
            <a:r>
              <a:rPr lang="es-CO" sz="800" noProof="0" dirty="0" err="1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Semibold</a:t>
            </a: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 · #374151</a:t>
            </a:r>
            <a:endParaRPr lang="es-CO" sz="800" noProof="0" dirty="0">
              <a:latin typeface="Inter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H3 — </a:t>
            </a:r>
            <a:r>
              <a:rPr lang="es-CO" sz="1300" noProof="0" dirty="0" err="1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Header</a:t>
            </a:r>
            <a:r>
              <a:rPr lang="es-CO" sz="1300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 de sección</a:t>
            </a:r>
            <a:endParaRPr lang="es-CO" sz="1300" noProof="0" dirty="0">
              <a:latin typeface="Inter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27614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16px · Medium · #4B5563</a:t>
            </a:r>
            <a:endParaRPr lang="es-CO" sz="800" noProof="0" dirty="0">
              <a:latin typeface="Inter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3072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 err="1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Body</a:t>
            </a:r>
            <a:r>
              <a:rPr lang="es-CO" sz="1100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 — Texto principal</a:t>
            </a:r>
            <a:endParaRPr lang="es-CO" sz="1100" noProof="0" dirty="0">
              <a:latin typeface="Inter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332841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14px · Regular · #6B7280</a:t>
            </a:r>
            <a:endParaRPr lang="es-CO" sz="800" noProof="0" dirty="0">
              <a:latin typeface="Inter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3639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50" noProof="0" dirty="0" err="1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Caption</a:t>
            </a:r>
            <a:r>
              <a:rPr lang="es-CO" sz="950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 / Etiqueta</a:t>
            </a:r>
            <a:endParaRPr lang="es-CO" sz="950" noProof="0" dirty="0">
              <a:latin typeface="Inter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389534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12px · Medium · #9CA3AF</a:t>
            </a:r>
            <a:endParaRPr lang="es-CO" sz="800" noProof="0" dirty="0">
              <a:latin typeface="Inter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50" b="1" noProof="0" dirty="0" err="1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Badge</a:t>
            </a:r>
            <a:r>
              <a:rPr lang="es-CO" sz="850" b="1" noProof="0" dirty="0">
                <a:solidFill>
                  <a:srgbClr val="111827"/>
                </a:solidFill>
                <a:latin typeface="Inter"/>
                <a:ea typeface="Segoe UI" pitchFamily="34" charset="-122"/>
                <a:cs typeface="Segoe UI" pitchFamily="34" charset="-120"/>
              </a:rPr>
              <a:t> / Tag</a:t>
            </a:r>
            <a:endParaRPr lang="es-CO" sz="850" noProof="0" dirty="0">
              <a:latin typeface="Inter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4462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10px · </a:t>
            </a:r>
            <a:r>
              <a:rPr lang="es-CO" sz="800" noProof="0" dirty="0" err="1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Semibold</a:t>
            </a:r>
            <a:r>
              <a:rPr lang="es-CO" sz="800" noProof="0" dirty="0">
                <a:solidFill>
                  <a:srgbClr val="6B7280"/>
                </a:solidFill>
                <a:latin typeface="Inter"/>
                <a:ea typeface="Segoe UI" pitchFamily="34" charset="-122"/>
                <a:cs typeface="Segoe UI" pitchFamily="34" charset="-120"/>
              </a:rPr>
              <a:t> · CAPS</a:t>
            </a:r>
            <a:endParaRPr lang="es-CO" sz="800" noProof="0" dirty="0"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s-CO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Elementos Visuales — Botones</a:t>
            </a:r>
            <a:endParaRPr lang="es-CO" sz="2600" noProof="0" dirty="0"/>
          </a:p>
        </p:txBody>
      </p:sp>
      <p:sp>
        <p:nvSpPr>
          <p:cNvPr id="5" name="Shape 3"/>
          <p:cNvSpPr/>
          <p:nvPr/>
        </p:nvSpPr>
        <p:spPr>
          <a:xfrm flipV="1">
            <a:off x="457200" y="1188721"/>
            <a:ext cx="8229600" cy="4571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Inscripción</a:t>
            </a:r>
            <a:endParaRPr lang="es-CO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834640" y="14173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2834640" y="1417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Alineación</a:t>
            </a:r>
            <a:endParaRPr lang="es-CO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5212080" y="14173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5212080" y="1417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2026-1 · Activo</a:t>
            </a:r>
            <a:endParaRPr lang="es-CO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649224" y="242316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603504" y="24140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Agregar</a:t>
            </a:r>
            <a:endParaRPr lang="es-CO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2377440" y="2393115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2377440" y="2393115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Rechazar</a:t>
            </a:r>
            <a:endParaRPr lang="es-CO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4105656" y="2393115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4105656" y="2393115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Cancelar</a:t>
            </a:r>
            <a:endParaRPr lang="es-CO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6028509" y="238658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EAB308"/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6028509" y="23865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Sanción</a:t>
            </a:r>
            <a:endParaRPr lang="es-CO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3417243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Cambios</a:t>
            </a:r>
            <a:endParaRPr lang="es-CO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2834640" y="3483864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2834640" y="3481251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</a:t>
            </a:r>
            <a:endParaRPr lang="es-CO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0" y="3481251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0" y="34838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Deshabilitado</a:t>
            </a:r>
            <a:endParaRPr lang="es-CO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457200" y="4306824"/>
            <a:ext cx="822960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s-CO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Elementos Visuales — </a:t>
            </a:r>
            <a:r>
              <a:rPr lang="es-CO" sz="2600" b="1" noProof="0" dirty="0" err="1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&amp; </a:t>
            </a:r>
            <a:r>
              <a:rPr lang="es-CO" sz="2600" b="1" noProof="0" dirty="0" err="1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</a:t>
            </a:r>
            <a:endParaRPr lang="es-CO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100" noProof="0" dirty="0" err="1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</a:t>
            </a:r>
            <a:r>
              <a:rPr lang="es-CO" sz="900" b="1" kern="0" spc="100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Card — Métrica</a:t>
            </a:r>
            <a:endParaRPr lang="es-CO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8" name="Shape 6"/>
          <p:cNvSpPr/>
          <p:nvPr/>
        </p:nvSpPr>
        <p:spPr>
          <a:xfrm>
            <a:off x="594360" y="193852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Goles</a:t>
            </a:r>
            <a:endParaRPr lang="es-CO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2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s-CO" sz="3200" noProof="0" dirty="0"/>
          </a:p>
        </p:txBody>
      </p:sp>
      <p:sp>
        <p:nvSpPr>
          <p:cNvPr id="12" name="Text 10"/>
          <p:cNvSpPr/>
          <p:nvPr/>
        </p:nvSpPr>
        <p:spPr>
          <a:xfrm>
            <a:off x="1280160" y="25420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5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goles en 12 partidos</a:t>
            </a:r>
            <a:endParaRPr lang="es-CO" sz="850" noProof="0" dirty="0"/>
          </a:p>
        </p:txBody>
      </p:sp>
      <p:sp>
        <p:nvSpPr>
          <p:cNvPr id="13" name="Text 11"/>
          <p:cNvSpPr/>
          <p:nvPr/>
        </p:nvSpPr>
        <p:spPr>
          <a:xfrm>
            <a:off x="320040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100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de Equipo</a:t>
            </a:r>
            <a:endParaRPr lang="es-CO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0" y="1664208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246888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Shape 14"/>
          <p:cNvSpPr/>
          <p:nvPr/>
        </p:nvSpPr>
        <p:spPr>
          <a:xfrm>
            <a:off x="3413760" y="179679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52E16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4069080" y="18745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FC KERNEL</a:t>
            </a:r>
            <a:endParaRPr lang="es-CO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4069080" y="213055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50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de Sistemas</a:t>
            </a:r>
            <a:endParaRPr lang="es-CO" sz="850" noProof="0" dirty="0"/>
          </a:p>
        </p:txBody>
      </p:sp>
      <p:sp>
        <p:nvSpPr>
          <p:cNvPr id="20" name="Text 18"/>
          <p:cNvSpPr/>
          <p:nvPr/>
        </p:nvSpPr>
        <p:spPr>
          <a:xfrm>
            <a:off x="3337560" y="24688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85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jugadores  ·  Titular</a:t>
            </a:r>
            <a:endParaRPr lang="es-CO" sz="850" noProof="0" dirty="0"/>
          </a:p>
        </p:txBody>
      </p:sp>
      <p:sp>
        <p:nvSpPr>
          <p:cNvPr id="21" name="Shape 19"/>
          <p:cNvSpPr/>
          <p:nvPr/>
        </p:nvSpPr>
        <p:spPr>
          <a:xfrm>
            <a:off x="3376749" y="268376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Text 20"/>
          <p:cNvSpPr/>
          <p:nvPr/>
        </p:nvSpPr>
        <p:spPr>
          <a:xfrm>
            <a:off x="3337560" y="2697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75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</a:t>
            </a:r>
            <a:endParaRPr lang="es-CO" sz="75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100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</a:t>
            </a:r>
            <a:r>
              <a:rPr lang="es-CO" sz="900" b="1" kern="0" spc="100" noProof="0" dirty="0" err="1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</a:t>
            </a:r>
            <a:r>
              <a:rPr lang="es-CO" sz="900" b="1" kern="0" spc="100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Chips de Estado</a:t>
            </a:r>
            <a:endParaRPr lang="es-CO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2026-1 · Activo</a:t>
            </a:r>
            <a:endParaRPr lang="es-CO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Torneo activo</a:t>
            </a:r>
            <a:endParaRPr lang="es-CO" sz="800" noProof="0" dirty="0"/>
          </a:p>
        </p:txBody>
      </p:sp>
      <p:sp>
        <p:nvSpPr>
          <p:cNvPr id="27" name="Shape 25"/>
          <p:cNvSpPr/>
          <p:nvPr/>
        </p:nvSpPr>
        <p:spPr>
          <a:xfrm>
            <a:off x="187452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8" name="Text 26"/>
          <p:cNvSpPr/>
          <p:nvPr/>
        </p:nvSpPr>
        <p:spPr>
          <a:xfrm>
            <a:off x="1874520" y="3401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Revisión</a:t>
            </a:r>
            <a:endParaRPr lang="es-CO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1874520" y="3794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intermedio</a:t>
            </a:r>
            <a:endParaRPr lang="es-CO" sz="800" noProof="0" dirty="0"/>
          </a:p>
        </p:txBody>
      </p:sp>
      <p:sp>
        <p:nvSpPr>
          <p:cNvPr id="30" name="Shape 28"/>
          <p:cNvSpPr/>
          <p:nvPr/>
        </p:nvSpPr>
        <p:spPr>
          <a:xfrm>
            <a:off x="329184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1" name="Text 29"/>
          <p:cNvSpPr/>
          <p:nvPr/>
        </p:nvSpPr>
        <p:spPr>
          <a:xfrm>
            <a:off x="3291840" y="3401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b="1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Aprobado</a:t>
            </a:r>
            <a:endParaRPr lang="es-CO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3291840" y="3794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positivo</a:t>
            </a:r>
            <a:endParaRPr lang="es-CO" sz="800" noProof="0" dirty="0"/>
          </a:p>
        </p:txBody>
      </p:sp>
      <p:sp>
        <p:nvSpPr>
          <p:cNvPr id="33" name="Shape 31"/>
          <p:cNvSpPr/>
          <p:nvPr/>
        </p:nvSpPr>
        <p:spPr>
          <a:xfrm>
            <a:off x="470916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4" name="Text 32"/>
          <p:cNvSpPr/>
          <p:nvPr/>
        </p:nvSpPr>
        <p:spPr>
          <a:xfrm>
            <a:off x="4709160" y="3401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b="1" noProof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Rechazado</a:t>
            </a:r>
            <a:endParaRPr lang="es-CO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4709160" y="3794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negativo</a:t>
            </a:r>
            <a:endParaRPr lang="es-CO" sz="800" noProof="0" dirty="0"/>
          </a:p>
        </p:txBody>
      </p:sp>
      <p:sp>
        <p:nvSpPr>
          <p:cNvPr id="36" name="Shape 34"/>
          <p:cNvSpPr/>
          <p:nvPr/>
        </p:nvSpPr>
        <p:spPr>
          <a:xfrm>
            <a:off x="612648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7" name="Text 35"/>
          <p:cNvSpPr/>
          <p:nvPr/>
        </p:nvSpPr>
        <p:spPr>
          <a:xfrm>
            <a:off x="6126480" y="3401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b="1" noProof="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Suspendido</a:t>
            </a:r>
            <a:endParaRPr lang="es-CO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6126480" y="3794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Sanción</a:t>
            </a:r>
            <a:endParaRPr lang="es-CO" sz="800" noProof="0" dirty="0"/>
          </a:p>
        </p:txBody>
      </p:sp>
      <p:sp>
        <p:nvSpPr>
          <p:cNvPr id="39" name="Shape 37"/>
          <p:cNvSpPr/>
          <p:nvPr/>
        </p:nvSpPr>
        <p:spPr>
          <a:xfrm>
            <a:off x="754380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0" name="Text 38"/>
          <p:cNvSpPr/>
          <p:nvPr/>
        </p:nvSpPr>
        <p:spPr>
          <a:xfrm>
            <a:off x="7543800" y="3401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b="1" noProof="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RF11</a:t>
            </a:r>
            <a:endParaRPr lang="es-CO" sz="900" noProof="0" dirty="0"/>
          </a:p>
        </p:txBody>
      </p:sp>
      <p:sp>
        <p:nvSpPr>
          <p:cNvPr id="41" name="Text 39"/>
          <p:cNvSpPr/>
          <p:nvPr/>
        </p:nvSpPr>
        <p:spPr>
          <a:xfrm>
            <a:off x="7543800" y="3794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 RF</a:t>
            </a:r>
            <a:endParaRPr lang="es-CO" sz="800" noProof="0" dirty="0"/>
          </a:p>
        </p:txBody>
      </p:sp>
      <p:sp>
        <p:nvSpPr>
          <p:cNvPr id="42" name="Text 40"/>
          <p:cNvSpPr/>
          <p:nvPr/>
        </p:nvSpPr>
        <p:spPr>
          <a:xfrm>
            <a:off x="457200" y="4114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b="1" kern="0" spc="100" noProof="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de Clasificación en Tabla</a:t>
            </a:r>
            <a:endParaRPr lang="es-CO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0" y="4416552"/>
            <a:ext cx="54864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4" name="Shape 42"/>
          <p:cNvSpPr/>
          <p:nvPr/>
        </p:nvSpPr>
        <p:spPr>
          <a:xfrm>
            <a:off x="512064" y="4416552"/>
            <a:ext cx="2468880" cy="320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5" name="Text 43"/>
          <p:cNvSpPr/>
          <p:nvPr/>
        </p:nvSpPr>
        <p:spPr>
          <a:xfrm>
            <a:off x="640080" y="4416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Clasifican a Semifinales</a:t>
            </a:r>
            <a:endParaRPr lang="es-CO" sz="900" noProof="0" dirty="0"/>
          </a:p>
        </p:txBody>
      </p:sp>
      <p:sp>
        <p:nvSpPr>
          <p:cNvPr id="46" name="Shape 44"/>
          <p:cNvSpPr/>
          <p:nvPr/>
        </p:nvSpPr>
        <p:spPr>
          <a:xfrm>
            <a:off x="3200400" y="4416552"/>
            <a:ext cx="54864" cy="320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7" name="Shape 45"/>
          <p:cNvSpPr/>
          <p:nvPr/>
        </p:nvSpPr>
        <p:spPr>
          <a:xfrm>
            <a:off x="3255264" y="4416552"/>
            <a:ext cx="2468880" cy="320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8" name="Text 46"/>
          <p:cNvSpPr/>
          <p:nvPr/>
        </p:nvSpPr>
        <p:spPr>
          <a:xfrm>
            <a:off x="3383280" y="4416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de Grupos</a:t>
            </a:r>
            <a:endParaRPr lang="es-CO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5943600" y="4416552"/>
            <a:ext cx="54864" cy="320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0" name="Shape 48"/>
          <p:cNvSpPr/>
          <p:nvPr/>
        </p:nvSpPr>
        <p:spPr>
          <a:xfrm>
            <a:off x="5998464" y="4416552"/>
            <a:ext cx="2468880" cy="320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1" name="Text 49"/>
          <p:cNvSpPr/>
          <p:nvPr/>
        </p:nvSpPr>
        <p:spPr>
          <a:xfrm>
            <a:off x="6126480" y="4416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noProof="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clasifican</a:t>
            </a:r>
            <a:endParaRPr lang="es-CO" sz="900" noProof="0" dirty="0"/>
          </a:p>
        </p:txBody>
      </p:sp>
      <p:sp>
        <p:nvSpPr>
          <p:cNvPr id="52" name="AutoShape 2" descr="Balón De Fútbol PNG, Dibujos, Vectores Para Descarga Gratuita - Pngtree">
            <a:extLst>
              <a:ext uri="{FF2B5EF4-FFF2-40B4-BE49-F238E27FC236}">
                <a16:creationId xmlns:a16="http://schemas.microsoft.com/office/drawing/2014/main" id="{926E8CDE-AA5B-E1DE-A6BB-3AFDB697C1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3" name="AutoShape 4" descr="Balón De Fútbol PNG, Dibujos, Vectores Para Descarga Gratuita - Pngtree">
            <a:extLst>
              <a:ext uri="{FF2B5EF4-FFF2-40B4-BE49-F238E27FC236}">
                <a16:creationId xmlns:a16="http://schemas.microsoft.com/office/drawing/2014/main" id="{7633A97A-9D25-50C5-78E2-3E64DEBE4D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4" name="AutoShape 8" descr="Futbol Sin Fondo PNG ,dibujos Fútbol Americano, Balón De Fútbol,  Ilustración De Balón De Fútbol PNG Imagen para Descarga Gratuita | Pngtree">
            <a:extLst>
              <a:ext uri="{FF2B5EF4-FFF2-40B4-BE49-F238E27FC236}">
                <a16:creationId xmlns:a16="http://schemas.microsoft.com/office/drawing/2014/main" id="{2524BD26-D546-E828-99E9-D73A2FDF2F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5" name="AutoShape 14" descr="Vector Icono Del Fútbol PNG ,dibujos Clipart De Fútbol En Blanco Y Negro,  Iconos De Futbol, Fútbol Americano PNG y Vector para Descargar Gratis |  Pngtree">
            <a:extLst>
              <a:ext uri="{FF2B5EF4-FFF2-40B4-BE49-F238E27FC236}">
                <a16:creationId xmlns:a16="http://schemas.microsoft.com/office/drawing/2014/main" id="{99C7229D-D652-138F-B1AA-F2392697A4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2876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064" name="Picture 16" descr="Imágenes de Escudo futbol - Descarga gratuita en Freepik">
            <a:extLst>
              <a:ext uri="{FF2B5EF4-FFF2-40B4-BE49-F238E27FC236}">
                <a16:creationId xmlns:a16="http://schemas.microsoft.com/office/drawing/2014/main" id="{AF926A33-6D62-D24A-3CB4-E0FE47B66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520" y="1777855"/>
            <a:ext cx="670560" cy="6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Imagen 55" descr="PSD de Balones futbol png, plantillas PSD gratuitas de gran calidad para  descargar | Freepik">
            <a:extLst>
              <a:ext uri="{FF2B5EF4-FFF2-40B4-BE49-F238E27FC236}">
                <a16:creationId xmlns:a16="http://schemas.microsoft.com/office/drawing/2014/main" id="{ED30508D-28FA-28FA-15CE-3078F39EA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1081" y1="21076" x2="41081" y2="21076"/>
                        <a14:foregroundMark x1="27027" y1="38372" x2="27027" y2="38372"/>
                        <a14:foregroundMark x1="30135" y1="59593" x2="30135" y2="59593"/>
                        <a14:foregroundMark x1="23919" y1="47965" x2="23919" y2="47965"/>
                        <a14:foregroundMark x1="36892" y1="28343" x2="36892" y2="28343"/>
                        <a14:foregroundMark x1="37703" y1="26890" x2="37703" y2="26890"/>
                        <a14:foregroundMark x1="26757" y1="38808" x2="26757" y2="38808"/>
                        <a14:foregroundMark x1="25946" y1="36047" x2="24189" y2="495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01" y="1935381"/>
            <a:ext cx="636678" cy="59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ED7C-CEAF-BF6B-3B15-AE497BCD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F6B02C-DD65-2587-0748-33CAF2AE1745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85D985-4493-DBE5-2141-6052527DEA9C}"/>
              </a:ext>
            </a:extLst>
          </p:cNvPr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s-CO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7D2C06-36D9-7664-92B3-B44F073DFF76}"/>
              </a:ext>
            </a:extLst>
          </p:cNvPr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noProof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Tipografía / Colores / Detalle</a:t>
            </a:r>
            <a:endParaRPr lang="es-CO" sz="2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B8756A-D0F1-2E23-ACD2-734FD223BE40}"/>
              </a:ext>
            </a:extLst>
          </p:cNvPr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421849-E0B8-D4F5-BC79-482F17170214}"/>
              </a:ext>
            </a:extLst>
          </p:cNvPr>
          <p:cNvSpPr/>
          <p:nvPr/>
        </p:nvSpPr>
        <p:spPr>
          <a:xfrm>
            <a:off x="457200" y="1416340"/>
            <a:ext cx="2592977" cy="173736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71E8EF-04AD-D206-35F5-B19660ECEDE0}"/>
              </a:ext>
            </a:extLst>
          </p:cNvPr>
          <p:cNvSpPr/>
          <p:nvPr/>
        </p:nvSpPr>
        <p:spPr>
          <a:xfrm>
            <a:off x="574766" y="1291590"/>
            <a:ext cx="135200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8000" noProof="0" dirty="0">
              <a:latin typeface="Inter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4DA793-95CB-1E9C-8542-086C00436980}"/>
              </a:ext>
            </a:extLst>
          </p:cNvPr>
          <p:cNvSpPr/>
          <p:nvPr/>
        </p:nvSpPr>
        <p:spPr>
          <a:xfrm>
            <a:off x="-303712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O" sz="2000" b="1" dirty="0">
                <a:solidFill>
                  <a:srgbClr val="4ADE80"/>
                </a:solidFill>
                <a:latin typeface="Inter"/>
                <a:ea typeface="Segoe UI" pitchFamily="34" charset="-122"/>
                <a:cs typeface="Segoe UI" pitchFamily="34" charset="-120"/>
              </a:rPr>
              <a:t>Inter</a:t>
            </a:r>
            <a:endParaRPr lang="es-CO" sz="1800" noProof="0" dirty="0">
              <a:latin typeface="Inter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BA91D5-1EE5-04DE-3A5A-C513DA37816A}"/>
              </a:ext>
            </a:extLst>
          </p:cNvPr>
          <p:cNvSpPr/>
          <p:nvPr/>
        </p:nvSpPr>
        <p:spPr>
          <a:xfrm>
            <a:off x="-303712" y="18735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BBF7D0"/>
                </a:solidFill>
                <a:latin typeface="Inter"/>
                <a:ea typeface="Segoe UI" pitchFamily="34" charset="-122"/>
                <a:cs typeface="Segoe UI" pitchFamily="34" charset="-120"/>
              </a:rPr>
              <a:t>Fuente Principal del Sistema</a:t>
            </a:r>
            <a:endParaRPr lang="es-CO" sz="1100" noProof="0" dirty="0">
              <a:latin typeface="Inter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93DF73-6B19-DC02-33BF-73C795A2EEEC}"/>
              </a:ext>
            </a:extLst>
          </p:cNvPr>
          <p:cNvSpPr txBox="1"/>
          <p:nvPr/>
        </p:nvSpPr>
        <p:spPr>
          <a:xfrm>
            <a:off x="-609056" y="2275876"/>
            <a:ext cx="4725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8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A B C D E F G H I J K L M</a:t>
            </a:r>
            <a:endParaRPr lang="es-CO" sz="800" noProof="0" dirty="0">
              <a:latin typeface="Inter"/>
            </a:endParaRPr>
          </a:p>
          <a:p>
            <a:pPr marL="0" indent="0" algn="ctr">
              <a:buNone/>
            </a:pPr>
            <a:r>
              <a:rPr lang="es-CO" sz="8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N O P Q R S T U V W X Y Z</a:t>
            </a:r>
            <a:endParaRPr lang="es-CO" sz="800" noProof="0" dirty="0">
              <a:latin typeface="Inter"/>
            </a:endParaRPr>
          </a:p>
          <a:p>
            <a:pPr marL="0" indent="0" algn="ctr">
              <a:buNone/>
            </a:pPr>
            <a:r>
              <a:rPr lang="es-CO" sz="8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a b c d e f g h i j k l m</a:t>
            </a:r>
            <a:endParaRPr lang="es-CO" sz="800" noProof="0" dirty="0">
              <a:latin typeface="Inter"/>
            </a:endParaRPr>
          </a:p>
          <a:p>
            <a:pPr marL="0" indent="0" algn="ctr">
              <a:buNone/>
            </a:pPr>
            <a:r>
              <a:rPr lang="es-CO" sz="800" noProof="0" dirty="0">
                <a:solidFill>
                  <a:srgbClr val="86EFAC"/>
                </a:solidFill>
                <a:latin typeface="Inter"/>
                <a:ea typeface="Segoe UI" pitchFamily="34" charset="-122"/>
                <a:cs typeface="Segoe UI" pitchFamily="34" charset="-120"/>
              </a:rPr>
              <a:t>0 1 2 3 4 5 6 7 8 9</a:t>
            </a:r>
            <a:endParaRPr lang="es-CO" sz="800" noProof="0" dirty="0">
              <a:latin typeface="Inter"/>
            </a:endParaRP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191AD113-049F-2AA4-7D6E-AC6E79D21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005" y="1624957"/>
            <a:ext cx="5939995" cy="1137246"/>
          </a:xfrm>
          <a:prstGeom prst="rect">
            <a:avLst/>
          </a:prstGeom>
        </p:spPr>
      </p:pic>
      <p:sp>
        <p:nvSpPr>
          <p:cNvPr id="57" name="Text 8">
            <a:extLst>
              <a:ext uri="{FF2B5EF4-FFF2-40B4-BE49-F238E27FC236}">
                <a16:creationId xmlns:a16="http://schemas.microsoft.com/office/drawing/2014/main" id="{29918D5E-5F0D-1E07-9BFF-2A7F7B0E698C}"/>
              </a:ext>
            </a:extLst>
          </p:cNvPr>
          <p:cNvSpPr/>
          <p:nvPr/>
        </p:nvSpPr>
        <p:spPr>
          <a:xfrm>
            <a:off x="457199" y="3322864"/>
            <a:ext cx="2645229" cy="1423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s-MX" sz="900" b="1" dirty="0"/>
              <a:t>Inter</a:t>
            </a:r>
            <a:r>
              <a:rPr lang="es-MX" sz="900" dirty="0"/>
              <a:t>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900" dirty="0"/>
              <a:t>Es una fuente diseñada específicamente para pantallas y interfaces digitales.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900" dirty="0"/>
              <a:t>Su principal ventaja es que es extremadamente legible en tamaños pequeños.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900" dirty="0"/>
              <a:t>Es ideal para una plataforma con tablas de posiciones, estadísticas y datos numéricos donde el usuario necesita leer información densa rápidamente.</a:t>
            </a:r>
            <a:endParaRPr lang="es-CO" sz="900" noProof="0" dirty="0"/>
          </a:p>
          <a:p>
            <a:pPr algn="ctr"/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96CF7F31-1FDF-B9FE-49AA-7A7EE6C52001}"/>
              </a:ext>
            </a:extLst>
          </p:cNvPr>
          <p:cNvSpPr/>
          <p:nvPr/>
        </p:nvSpPr>
        <p:spPr>
          <a:xfrm>
            <a:off x="3204005" y="2860651"/>
            <a:ext cx="5373189" cy="214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sz="900" b="1" dirty="0"/>
              <a:t>Verde como color principal</a:t>
            </a:r>
            <a:r>
              <a:rPr lang="es-MX" sz="9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/>
              <a:t>Es el color del fútbol por excelencia, el césped, la cancha, el juego.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/>
              <a:t>En interfaces digitales el verde comunica éxito, aprobación y estados activos, que son exactamente los estados más importantes de la plataforma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/>
              <a:t>No es un verde cualquiera sino un verde oscuro institucional que transmite seriedad y confianza, alejándose de algo demasiado deportivo o infantil.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900" dirty="0"/>
          </a:p>
          <a:p>
            <a:r>
              <a:rPr lang="es-MX" sz="900" b="1" dirty="0"/>
              <a:t>El blanco y los grises neutros</a:t>
            </a:r>
            <a:r>
              <a:rPr lang="es-MX" sz="9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/>
              <a:t>como base sirven para que el verde resalte cuando aparece y para que tablas, </a:t>
            </a:r>
            <a:r>
              <a:rPr lang="es-MX" sz="900" dirty="0" err="1"/>
              <a:t>cards</a:t>
            </a:r>
            <a:r>
              <a:rPr lang="es-MX" sz="900" dirty="0"/>
              <a:t> y datos sean fáciles de leer sin cansar la vista. Esto se hace con el fin de darle un respiro a la pagina </a:t>
            </a:r>
          </a:p>
          <a:p>
            <a:endParaRPr lang="es-MX" sz="900" b="1" dirty="0"/>
          </a:p>
          <a:p>
            <a:r>
              <a:rPr lang="es-MX" sz="900" b="1" dirty="0"/>
              <a:t>El amarillo y el rojo</a:t>
            </a:r>
            <a:r>
              <a:rPr lang="es-MX" sz="9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/>
              <a:t>Tienen un rol específico y muy reconocible: tarjetas. Cualquier persona que haya visto un partido de fútbol entiende inmediatamente qué significa cada color, sin necesidad de leerlo. Es lenguaje visual universal del deporte.</a:t>
            </a:r>
          </a:p>
          <a:p>
            <a:pPr algn="ctr"/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  <a:p>
            <a:pPr marL="0" indent="0" algn="ctr">
              <a:buNone/>
            </a:pPr>
            <a:endParaRPr lang="es-CO" sz="900" noProof="0" dirty="0"/>
          </a:p>
        </p:txBody>
      </p:sp>
    </p:spTree>
    <p:extLst>
      <p:ext uri="{BB962C8B-B14F-4D97-AF65-F5344CB8AC3E}">
        <p14:creationId xmlns:p14="http://schemas.microsoft.com/office/powerpoint/2010/main" val="3751663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3200400" y="3657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O" sz="60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0459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800" b="1" kern="0" spc="500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TECHCUP FÚTBOL</a:t>
            </a:r>
            <a:endParaRPr lang="es-CO" sz="38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67338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noProof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 Identidad de Marca</a:t>
            </a:r>
            <a:endParaRPr lang="es-CO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3130085"/>
            <a:ext cx="2743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31318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Escuela Colombiana de Ingeniería Julio Garavito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noProof="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Software II · DOSW 2 · 2026-1</a:t>
            </a:r>
            <a:endParaRPr lang="es-CO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00" noProof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 documento es de uso interno académico. Todos los elementos de diseño deben aplicarse</a:t>
            </a:r>
            <a:endParaRPr lang="es-CO" sz="900" noProof="0" dirty="0"/>
          </a:p>
          <a:p>
            <a:pPr marL="0" indent="0" algn="ctr">
              <a:buNone/>
            </a:pPr>
            <a:r>
              <a:rPr lang="es-CO" sz="900" noProof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consistentemente en las pantallas de la plataforma </a:t>
            </a:r>
            <a:r>
              <a:rPr lang="es-CO" sz="900" noProof="0" dirty="0" err="1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TechCup</a:t>
            </a:r>
            <a:r>
              <a:rPr lang="es-CO" sz="900" noProof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Fútbol.</a:t>
            </a:r>
            <a:endParaRPr lang="es-CO" sz="9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387B12C-112A-9AC4-FC14-3BF0FDEF2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297" y="142124"/>
            <a:ext cx="1818871" cy="18188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838</Words>
  <Application>Microsoft Office PowerPoint</Application>
  <PresentationFormat>Presentación en pantalla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Inter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Identidad — TechCup Fútbol</dc:title>
  <dc:subject>PptxGenJS Presentation</dc:subject>
  <dc:creator>ECI</dc:creator>
  <cp:lastModifiedBy>Cristian Guerrero</cp:lastModifiedBy>
  <cp:revision>3</cp:revision>
  <dcterms:created xsi:type="dcterms:W3CDTF">2026-03-13T01:05:00Z</dcterms:created>
  <dcterms:modified xsi:type="dcterms:W3CDTF">2026-03-13T02:44:37Z</dcterms:modified>
</cp:coreProperties>
</file>